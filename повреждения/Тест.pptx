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9" r:id="rId3"/>
    <p:sldId id="283" r:id="rId4"/>
    <p:sldId id="284" r:id="rId5"/>
    <p:sldId id="285" r:id="rId6"/>
    <p:sldId id="286" r:id="rId7"/>
    <p:sldId id="275" r:id="rId8"/>
    <p:sldId id="281" r:id="rId9"/>
    <p:sldId id="276" r:id="rId10"/>
    <p:sldId id="288" r:id="rId11"/>
    <p:sldId id="287" r:id="rId12"/>
    <p:sldId id="289" r:id="rId13"/>
    <p:sldId id="260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DAE3"/>
    <a:srgbClr val="FD493D"/>
    <a:srgbClr val="9F00FF"/>
    <a:srgbClr val="FBB3C1"/>
    <a:srgbClr val="B5D8E1"/>
    <a:srgbClr val="FCAF17"/>
    <a:srgbClr val="8F00FF"/>
    <a:srgbClr val="ED3833"/>
    <a:srgbClr val="FFAC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904" y="10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6967-96B6-47F9-BEF7-899C0338F77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вадрат"/>
          <p:cNvSpPr/>
          <p:nvPr/>
        </p:nvSpPr>
        <p:spPr>
          <a:xfrm>
            <a:off x="-1" y="3906152"/>
            <a:ext cx="6012157" cy="2951849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37306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№</a:t>
            </a:r>
          </a:p>
          <a:p>
            <a:pPr marL="37306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«Разработка ПО для синтеза данных для анализа повреждений колёсных пар методами машинного зрения</a:t>
            </a:r>
            <a:r>
              <a:rPr lang="ru-RU" sz="2000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»</a:t>
            </a:r>
          </a:p>
          <a:p>
            <a:pPr marL="37306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 err="1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Братилов</a:t>
            </a:r>
            <a:r>
              <a:rPr lang="ru-RU" sz="2000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 Захар </a:t>
            </a:r>
            <a:r>
              <a:rPr lang="ru-RU" sz="2000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Максимович</a:t>
            </a:r>
          </a:p>
          <a:p>
            <a:pPr marL="37306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Добавь контакты!!!!</a:t>
            </a:r>
            <a:endParaRPr lang="ru-RU" sz="20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306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ru-RU" sz="20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dirty="0"/>
          </a:p>
        </p:txBody>
      </p:sp>
      <p:sp>
        <p:nvSpPr>
          <p:cNvPr id="171" name="Квадрат"/>
          <p:cNvSpPr/>
          <p:nvPr/>
        </p:nvSpPr>
        <p:spPr>
          <a:xfrm>
            <a:off x="6012156" y="5927334"/>
            <a:ext cx="3110127" cy="93066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2000">
                <a:solidFill>
                  <a:srgbClr val="FD493D"/>
                </a:solidFill>
              </a:defRPr>
            </a:pPr>
            <a:endParaRPr/>
          </a:p>
        </p:txBody>
      </p:sp>
      <p:sp>
        <p:nvSpPr>
          <p:cNvPr id="172" name="Прямоугольник"/>
          <p:cNvSpPr/>
          <p:nvPr/>
        </p:nvSpPr>
        <p:spPr>
          <a:xfrm>
            <a:off x="6012159" y="3910830"/>
            <a:ext cx="678949" cy="2016181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CAF17"/>
                </a:solidFill>
              </a:defRPr>
            </a:pPr>
            <a:endParaRPr/>
          </a:p>
        </p:txBody>
      </p:sp>
      <p:sp>
        <p:nvSpPr>
          <p:cNvPr id="173" name="Прямоугольник"/>
          <p:cNvSpPr/>
          <p:nvPr/>
        </p:nvSpPr>
        <p:spPr>
          <a:xfrm>
            <a:off x="6691110" y="3906151"/>
            <a:ext cx="2452890" cy="2021182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D8E1"/>
                </a:solidFill>
              </a:defRPr>
            </a:pPr>
            <a:endParaRPr/>
          </a:p>
        </p:txBody>
      </p:sp>
      <p:sp>
        <p:nvSpPr>
          <p:cNvPr id="174" name="Квадрат"/>
          <p:cNvSpPr/>
          <p:nvPr/>
        </p:nvSpPr>
        <p:spPr>
          <a:xfrm>
            <a:off x="7104487" y="0"/>
            <a:ext cx="2039513" cy="3906152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BB3C1"/>
                </a:solidFill>
              </a:defRPr>
            </a:pPr>
            <a:endParaRPr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xmlns="" id="{6863CA9C-F1C4-22E3-A14A-BBCED3104C92}"/>
              </a:ext>
            </a:extLst>
          </p:cNvPr>
          <p:cNvSpPr txBox="1"/>
          <p:nvPr/>
        </p:nvSpPr>
        <p:spPr>
          <a:xfrm>
            <a:off x="1225590" y="1511552"/>
            <a:ext cx="4711944" cy="25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Autofit/>
          </a:bodyPr>
          <a:lstStyle/>
          <a:p>
            <a:pPr defTabSz="877822">
              <a:defRPr sz="6900">
                <a:solidFill>
                  <a:srgbClr val="8F00FF"/>
                </a:solidFill>
                <a:latin typeface="Gilroy-ExtraBold"/>
                <a:ea typeface="Gilroy-ExtraBold"/>
                <a:cs typeface="Gilroy-ExtraBold"/>
                <a:sym typeface="Gilroy-ExtraBold"/>
              </a:defRPr>
            </a:pPr>
            <a:endParaRPr lang="ru-RU" sz="5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60235"/>
            <a:ext cx="1857486" cy="17246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8" y="332656"/>
            <a:ext cx="2001725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Двойные круглые скобки 10"/>
          <p:cNvSpPr/>
          <p:nvPr/>
        </p:nvSpPr>
        <p:spPr>
          <a:xfrm>
            <a:off x="266018" y="1615120"/>
            <a:ext cx="6610238" cy="2013173"/>
          </a:xfrm>
          <a:prstGeom prst="bracketPair">
            <a:avLst/>
          </a:prstGeom>
          <a:ln w="101600" cap="rnd" cmpd="sng">
            <a:gradFill flip="none" rotWithShape="1">
              <a:gsLst>
                <a:gs pos="0">
                  <a:srgbClr val="8F00FF"/>
                </a:gs>
                <a:gs pos="30000">
                  <a:srgbClr val="8F00FF"/>
                </a:gs>
                <a:gs pos="42000">
                  <a:srgbClr val="ED3833"/>
                </a:gs>
                <a:gs pos="100000">
                  <a:srgbClr val="ED3833"/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472266" y="1894060"/>
            <a:ext cx="6518106" cy="1725141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«Разработка </a:t>
            </a:r>
            <a:r>
              <a:rPr lang="ru-RU" sz="2800" b="1" dirty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ПО для синтеза данных для анализа повреждений колёсных пар методами машинного </a:t>
            </a:r>
            <a:r>
              <a:rPr lang="ru-RU" sz="2800" b="1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зрения»</a:t>
            </a:r>
            <a:r>
              <a:rPr lang="ru-RU" sz="2800" b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/>
            </a:r>
            <a:br>
              <a:rPr lang="ru-RU" sz="2800" b="1" dirty="0" smtClean="0">
                <a:solidFill>
                  <a:srgbClr val="FF0000"/>
                </a:solidFill>
                <a:latin typeface="Georgia" panose="02040502050405020303" pitchFamily="18" charset="0"/>
              </a:rPr>
            </a:br>
            <a:endParaRPr lang="ru-RU" sz="2800" b="1" dirty="0">
              <a:solidFill>
                <a:srgbClr val="ED3833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3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427766"/>
            <a:ext cx="3794538" cy="369328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32619" y="884721"/>
            <a:ext cx="8219256" cy="49428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47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</a:t>
            </a:r>
            <a:r>
              <a:rPr lang="ru-RU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продукте — </a:t>
            </a:r>
            <a:r>
              <a:rPr lang="ru-RU" sz="47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проблема</a:t>
            </a:r>
            <a:endParaRPr lang="ru-RU" sz="4700" b="1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301396" y="1654932"/>
            <a:ext cx="3644890" cy="2209954"/>
          </a:xfrm>
          <a:prstGeom prst="roundRect">
            <a:avLst>
              <a:gd name="adj" fmla="val 7017"/>
            </a:avLst>
          </a:prstGeom>
          <a:solidFill>
            <a:srgbClr val="B5D8E1"/>
          </a:solidFill>
          <a:ln w="30480">
            <a:solidFill>
              <a:srgbClr val="FBB3C1"/>
            </a:solidFill>
            <a:prstDash val="solid"/>
          </a:ln>
        </p:spPr>
      </p:sp>
      <p:sp>
        <p:nvSpPr>
          <p:cNvPr id="16" name="Shape 2"/>
          <p:cNvSpPr/>
          <p:nvPr/>
        </p:nvSpPr>
        <p:spPr>
          <a:xfrm>
            <a:off x="300993" y="1717338"/>
            <a:ext cx="100038" cy="2085142"/>
          </a:xfrm>
          <a:prstGeom prst="roundRect">
            <a:avLst>
              <a:gd name="adj" fmla="val 279070"/>
            </a:avLst>
          </a:prstGeom>
          <a:solidFill>
            <a:srgbClr val="FBB3C1"/>
          </a:solidFill>
          <a:ln/>
        </p:spPr>
      </p:sp>
      <p:sp>
        <p:nvSpPr>
          <p:cNvPr id="17" name="Text 3"/>
          <p:cNvSpPr/>
          <p:nvPr/>
        </p:nvSpPr>
        <p:spPr>
          <a:xfrm>
            <a:off x="632516" y="1861456"/>
            <a:ext cx="29459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 smtClean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формулировка</a:t>
            </a:r>
            <a:endParaRPr lang="ru-RU" sz="2200" dirty="0">
              <a:solidFill>
                <a:srgbClr val="403011"/>
              </a:solidFill>
              <a:latin typeface="Georgia" panose="02040502050405020303" pitchFamily="18" charset="0"/>
              <a:ea typeface="Brygada 1918 Semi Bold" pitchFamily="34" charset="-122"/>
              <a:cs typeface="Brygada 1918 Semi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 smtClean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проблемы</a:t>
            </a:r>
            <a:endParaRPr lang="ru-RU" sz="2200" dirty="0" smtClean="0">
              <a:solidFill>
                <a:srgbClr val="403011"/>
              </a:solidFill>
              <a:latin typeface="Georgia" panose="02040502050405020303" pitchFamily="18" charset="0"/>
              <a:ea typeface="Brygada 1918 Semi Bold" pitchFamily="34" charset="-122"/>
              <a:cs typeface="Brygada 1918 Semi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68791" y="2759909"/>
            <a:ext cx="29459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дефицит размеченных фото дефектов колёсных пар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3131840" y="4150826"/>
            <a:ext cx="3443235" cy="2085142"/>
          </a:xfrm>
          <a:prstGeom prst="roundRect">
            <a:avLst>
              <a:gd name="adj" fmla="val 7017"/>
            </a:avLst>
          </a:prstGeom>
          <a:solidFill>
            <a:srgbClr val="B5D8E1"/>
          </a:solidFill>
          <a:ln w="30480">
            <a:solidFill>
              <a:srgbClr val="FD493D"/>
            </a:solidFill>
            <a:prstDash val="solid"/>
          </a:ln>
        </p:spPr>
      </p:sp>
      <p:sp>
        <p:nvSpPr>
          <p:cNvPr id="20" name="Shape 6"/>
          <p:cNvSpPr/>
          <p:nvPr/>
        </p:nvSpPr>
        <p:spPr>
          <a:xfrm>
            <a:off x="3101360" y="4150826"/>
            <a:ext cx="100038" cy="2085142"/>
          </a:xfrm>
          <a:prstGeom prst="roundRect">
            <a:avLst>
              <a:gd name="adj" fmla="val 279070"/>
            </a:avLst>
          </a:prstGeom>
          <a:solidFill>
            <a:srgbClr val="FD493D"/>
          </a:solidFill>
          <a:ln/>
        </p:spPr>
      </p:sp>
      <p:sp>
        <p:nvSpPr>
          <p:cNvPr id="21" name="Text 7"/>
          <p:cNvSpPr/>
          <p:nvPr/>
        </p:nvSpPr>
        <p:spPr>
          <a:xfrm>
            <a:off x="3480574" y="4408120"/>
            <a:ext cx="23263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Почему это важно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3480574" y="4898538"/>
            <a:ext cx="29459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безопасность движения, затраты на диагностику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208144" y="1602982"/>
            <a:ext cx="3443235" cy="2085142"/>
          </a:xfrm>
          <a:prstGeom prst="roundRect">
            <a:avLst>
              <a:gd name="adj" fmla="val 7017"/>
            </a:avLst>
          </a:prstGeom>
          <a:solidFill>
            <a:srgbClr val="B5D8E1"/>
          </a:solidFill>
          <a:ln w="30480">
            <a:solidFill>
              <a:srgbClr val="9F00FF"/>
            </a:solidFill>
            <a:prstDash val="solid"/>
          </a:ln>
        </p:spPr>
      </p:sp>
      <p:sp>
        <p:nvSpPr>
          <p:cNvPr id="24" name="Shape 10"/>
          <p:cNvSpPr/>
          <p:nvPr/>
        </p:nvSpPr>
        <p:spPr>
          <a:xfrm>
            <a:off x="5177664" y="1602982"/>
            <a:ext cx="100038" cy="2085142"/>
          </a:xfrm>
          <a:prstGeom prst="roundRect">
            <a:avLst>
              <a:gd name="adj" fmla="val 279070"/>
            </a:avLst>
          </a:prstGeom>
          <a:solidFill>
            <a:srgbClr val="9F00FF"/>
          </a:solidFill>
          <a:ln/>
        </p:spPr>
      </p:sp>
      <p:sp>
        <p:nvSpPr>
          <p:cNvPr id="25" name="Text 11"/>
          <p:cNvSpPr/>
          <p:nvPr/>
        </p:nvSpPr>
        <p:spPr>
          <a:xfrm>
            <a:off x="5556879" y="1860276"/>
            <a:ext cx="29459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Ограничения реального сбора данных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5549735" y="2990423"/>
            <a:ext cx="29459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утилизация, доступность</a:t>
            </a:r>
            <a:endParaRPr lang="en-US" sz="17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427766"/>
            <a:ext cx="3794538" cy="369328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32619" y="884721"/>
            <a:ext cx="8219256" cy="49428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 — решение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32619" y="17490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D493D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Что создаём</a:t>
            </a:r>
            <a:endParaRPr lang="en-US" sz="2200" dirty="0">
              <a:solidFill>
                <a:srgbClr val="FD493D"/>
              </a:solidFill>
              <a:latin typeface="Georgia" panose="02040502050405020303" pitchFamily="18" charset="0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32619" y="2330162"/>
            <a:ext cx="36353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ПО-платформа для 3D-симуляции и генерации размеченных изображений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41989" y="35818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D493D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Ключевые функции</a:t>
            </a:r>
            <a:endParaRPr lang="en-US" sz="2200" dirty="0">
              <a:solidFill>
                <a:srgbClr val="FD493D"/>
              </a:solidFill>
              <a:latin typeface="Georgia" panose="02040502050405020303" pitchFamily="18" charset="0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32619" y="4242331"/>
            <a:ext cx="3359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моделирование дефектов, рендер, автоматическая разметка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788024" y="1814499"/>
            <a:ext cx="1275035" cy="906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D493D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Форматы вывода</a:t>
            </a:r>
            <a:endParaRPr lang="en-US" sz="2200" dirty="0">
              <a:solidFill>
                <a:srgbClr val="FD493D"/>
              </a:solidFill>
              <a:latin typeface="Georgia" panose="02040502050405020303" pitchFamily="18" charset="0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788025" y="2345666"/>
            <a:ext cx="1995114" cy="117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RGB, маски, depth</a:t>
            </a:r>
            <a:r>
              <a:rPr lang="en-US" sz="1750" dirty="0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,</a:t>
            </a:r>
            <a:endParaRPr lang="ru-RU" sz="1750" dirty="0" smtClean="0">
              <a:solidFill>
                <a:srgbClr val="403011"/>
              </a:solidFill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metadata (COCO-style)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788023" y="3647784"/>
            <a:ext cx="1275035" cy="906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D493D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Кого решает</a:t>
            </a:r>
            <a:endParaRPr lang="en-US" sz="2200" dirty="0">
              <a:solidFill>
                <a:srgbClr val="FD493D"/>
              </a:solidFill>
              <a:latin typeface="Georgia" panose="02040502050405020303" pitchFamily="18" charset="0"/>
            </a:endParaRPr>
          </a:p>
        </p:txBody>
      </p:sp>
      <p:sp>
        <p:nvSpPr>
          <p:cNvPr id="34" name="Text 8"/>
          <p:cNvSpPr/>
          <p:nvPr/>
        </p:nvSpPr>
        <p:spPr>
          <a:xfrm>
            <a:off x="4788023" y="4135426"/>
            <a:ext cx="2808312" cy="185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разработчики диагностических систем, ЖД-операторы, НИИ</a:t>
            </a:r>
            <a:endParaRPr lang="en-US" sz="17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83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427766"/>
            <a:ext cx="3794538" cy="369328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517" y="5373216"/>
            <a:ext cx="1633955" cy="1287538"/>
          </a:xfrm>
          <a:prstGeom prst="rect">
            <a:avLst/>
          </a:prstGeom>
        </p:spPr>
      </p:pic>
      <p:sp>
        <p:nvSpPr>
          <p:cNvPr id="13" name="Объект 4"/>
          <p:cNvSpPr txBox="1">
            <a:spLocks/>
          </p:cNvSpPr>
          <p:nvPr/>
        </p:nvSpPr>
        <p:spPr>
          <a:xfrm>
            <a:off x="1920975" y="903671"/>
            <a:ext cx="4722986" cy="1048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47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</a:t>
            </a:r>
            <a:r>
              <a:rPr lang="ru-RU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проекта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320464" y="2035509"/>
            <a:ext cx="3047538" cy="45719"/>
          </a:xfrm>
          <a:prstGeom prst="rect">
            <a:avLst/>
          </a:prstGeom>
          <a:solidFill>
            <a:srgbClr val="FCAF17"/>
          </a:solidFill>
          <a:ln/>
        </p:spPr>
      </p:sp>
      <p:sp>
        <p:nvSpPr>
          <p:cNvPr id="25" name="Text 3"/>
          <p:cNvSpPr/>
          <p:nvPr/>
        </p:nvSpPr>
        <p:spPr>
          <a:xfrm>
            <a:off x="180760" y="2209817"/>
            <a:ext cx="2357733" cy="262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Техническая идея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26" name="Text 4"/>
          <p:cNvSpPr/>
          <p:nvPr/>
        </p:nvSpPr>
        <p:spPr>
          <a:xfrm>
            <a:off x="320464" y="2700236"/>
            <a:ext cx="3047538" cy="80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3D-модели + параметрическая генерация дефектов + рендеринг + pipeline в Unity/Blender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3356976" y="4863187"/>
            <a:ext cx="188615" cy="20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339604" y="2040887"/>
            <a:ext cx="3047637" cy="45719"/>
          </a:xfrm>
          <a:prstGeom prst="rect">
            <a:avLst/>
          </a:prstGeom>
          <a:solidFill>
            <a:srgbClr val="FD493D"/>
          </a:solidFill>
          <a:ln/>
        </p:spPr>
      </p:sp>
      <p:sp>
        <p:nvSpPr>
          <p:cNvPr id="39" name="Text 7"/>
          <p:cNvSpPr/>
          <p:nvPr/>
        </p:nvSpPr>
        <p:spPr>
          <a:xfrm>
            <a:off x="4199880" y="2215195"/>
            <a:ext cx="2357733" cy="262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ML-компоненты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40" name="Text 8"/>
          <p:cNvSpPr/>
          <p:nvPr/>
        </p:nvSpPr>
        <p:spPr>
          <a:xfrm>
            <a:off x="4199880" y="2643766"/>
            <a:ext cx="3047637" cy="806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генерация датасетов → обучение/валидация CNN/детекторов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4132606" y="4067965"/>
            <a:ext cx="3031681" cy="81116"/>
          </a:xfrm>
          <a:prstGeom prst="rect">
            <a:avLst/>
          </a:prstGeom>
          <a:solidFill>
            <a:srgbClr val="FBB3C1"/>
          </a:solidFill>
          <a:ln/>
        </p:spPr>
      </p:sp>
      <p:sp>
        <p:nvSpPr>
          <p:cNvPr id="43" name="Text 11"/>
          <p:cNvSpPr/>
          <p:nvPr/>
        </p:nvSpPr>
        <p:spPr>
          <a:xfrm>
            <a:off x="4047021" y="4248265"/>
            <a:ext cx="585165" cy="80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Инструменты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4132607" y="4732692"/>
            <a:ext cx="1559572" cy="823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Unity/</a:t>
            </a:r>
            <a:r>
              <a:rPr lang="en-US" sz="1750" dirty="0" err="1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Blender,PyTorch</a:t>
            </a:r>
            <a:r>
              <a:rPr lang="en-US" sz="1750" dirty="0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/</a:t>
            </a:r>
            <a:r>
              <a:rPr lang="en-US" sz="1750" dirty="0" err="1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TensorFlow</a:t>
            </a:r>
            <a:r>
              <a:rPr lang="en-US" sz="1750" dirty="0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Git+LFS (указать версии)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12324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427766"/>
            <a:ext cx="3794538" cy="369328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544" y="5379206"/>
            <a:ext cx="1633955" cy="1287538"/>
          </a:xfrm>
          <a:prstGeom prst="rect">
            <a:avLst/>
          </a:prstGeom>
        </p:spPr>
      </p:pic>
      <p:sp>
        <p:nvSpPr>
          <p:cNvPr id="13" name="Объект 4"/>
          <p:cNvSpPr txBox="1">
            <a:spLocks/>
          </p:cNvSpPr>
          <p:nvPr/>
        </p:nvSpPr>
        <p:spPr>
          <a:xfrm>
            <a:off x="1920975" y="903671"/>
            <a:ext cx="4722986" cy="1048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 технического решения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3356976" y="4863187"/>
            <a:ext cx="188615" cy="20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23" name="Shape 1"/>
          <p:cNvSpPr/>
          <p:nvPr/>
        </p:nvSpPr>
        <p:spPr>
          <a:xfrm>
            <a:off x="231001" y="1772816"/>
            <a:ext cx="4112544" cy="1913857"/>
          </a:xfrm>
          <a:prstGeom prst="roundRect">
            <a:avLst>
              <a:gd name="adj" fmla="val 15261"/>
            </a:avLst>
          </a:prstGeom>
          <a:solidFill>
            <a:srgbClr val="9F00FF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28" name="Text 3"/>
          <p:cNvSpPr/>
          <p:nvPr/>
        </p:nvSpPr>
        <p:spPr>
          <a:xfrm>
            <a:off x="456603" y="2066651"/>
            <a:ext cx="3335017" cy="30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Масштабируемость</a:t>
            </a:r>
            <a:endParaRPr lang="en-US" sz="2200" b="1" dirty="0" smtClean="0">
              <a:solidFill>
                <a:srgbClr val="FFFFFF"/>
              </a:solidFill>
              <a:latin typeface="Georgia" panose="02040502050405020303" pitchFamily="18" charset="0"/>
              <a:ea typeface="Brygada 1918 Semi Bold" pitchFamily="34" charset="-122"/>
              <a:cs typeface="Brygada 1918 Semi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синтетики</a:t>
            </a:r>
            <a:endParaRPr lang="en-US" sz="2200" b="1" dirty="0">
              <a:latin typeface="Georgia" panose="02040502050405020303" pitchFamily="18" charset="0"/>
            </a:endParaRPr>
          </a:p>
        </p:txBody>
      </p:sp>
      <p:sp>
        <p:nvSpPr>
          <p:cNvPr id="29" name="Text 4"/>
          <p:cNvSpPr/>
          <p:nvPr/>
        </p:nvSpPr>
        <p:spPr>
          <a:xfrm>
            <a:off x="467927" y="2854675"/>
            <a:ext cx="3350734" cy="311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быстрый</a:t>
            </a: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контроль</a:t>
            </a:r>
            <a:r>
              <a:rPr lang="en-US" sz="175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распределения</a:t>
            </a:r>
            <a:r>
              <a:rPr lang="en-US" sz="175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дефектов</a:t>
            </a:r>
            <a:endParaRPr lang="en-US" sz="1750" b="1" dirty="0">
              <a:latin typeface="Georgia" panose="02040502050405020303" pitchFamily="18" charset="0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4585407" y="1746680"/>
            <a:ext cx="4379081" cy="1913857"/>
          </a:xfrm>
          <a:prstGeom prst="roundRect">
            <a:avLst>
              <a:gd name="adj" fmla="val 15261"/>
            </a:avLst>
          </a:prstGeom>
          <a:solidFill>
            <a:srgbClr val="9F00FF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32" name="Text 7"/>
          <p:cNvSpPr/>
          <p:nvPr/>
        </p:nvSpPr>
        <p:spPr>
          <a:xfrm>
            <a:off x="4963619" y="2066651"/>
            <a:ext cx="2943923" cy="30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Экономия</a:t>
            </a: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времени</a:t>
            </a:r>
            <a:endParaRPr lang="en-US" sz="2200" b="1" dirty="0" smtClean="0">
              <a:solidFill>
                <a:srgbClr val="FFFFFF"/>
              </a:solidFill>
              <a:latin typeface="Georgia" panose="02040502050405020303" pitchFamily="18" charset="0"/>
              <a:ea typeface="Brygada 1918 Semi Bold" pitchFamily="34" charset="-122"/>
              <a:cs typeface="Brygada 1918 Semi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и денег</a:t>
            </a:r>
            <a:endParaRPr lang="en-US" sz="2200" b="1" dirty="0">
              <a:latin typeface="Georgia" panose="02040502050405020303" pitchFamily="18" charset="0"/>
            </a:endParaRPr>
          </a:p>
        </p:txBody>
      </p:sp>
      <p:sp>
        <p:nvSpPr>
          <p:cNvPr id="33" name="Text 8"/>
          <p:cNvSpPr/>
          <p:nvPr/>
        </p:nvSpPr>
        <p:spPr>
          <a:xfrm>
            <a:off x="4963619" y="2819130"/>
            <a:ext cx="4628459" cy="311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vs сбор реальных данных</a:t>
            </a:r>
            <a:endParaRPr lang="en-US" sz="1750" b="1" dirty="0">
              <a:latin typeface="Georgia" panose="02040502050405020303" pitchFamily="18" charset="0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173300" y="3765853"/>
            <a:ext cx="4993759" cy="1913857"/>
          </a:xfrm>
          <a:prstGeom prst="roundRect">
            <a:avLst>
              <a:gd name="adj" fmla="val 15261"/>
            </a:avLst>
          </a:prstGeom>
          <a:solidFill>
            <a:srgbClr val="9F00FF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46" name="Text 11"/>
          <p:cNvSpPr/>
          <p:nvPr/>
        </p:nvSpPr>
        <p:spPr>
          <a:xfrm>
            <a:off x="487986" y="4309613"/>
            <a:ext cx="3137847" cy="30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Мульти-модальные датасеты</a:t>
            </a:r>
            <a:endParaRPr lang="en-US" sz="2200" b="1" dirty="0">
              <a:latin typeface="Georgia" panose="02040502050405020303" pitchFamily="18" charset="0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69874" y="4801691"/>
            <a:ext cx="4628366" cy="311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RGB, IR, depth, vibration — </a:t>
            </a:r>
            <a:endParaRPr lang="en-US" sz="1750" b="1" dirty="0" smtClean="0">
              <a:solidFill>
                <a:srgbClr val="FFFFFF"/>
              </a:solidFill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при</a:t>
            </a:r>
            <a:r>
              <a:rPr lang="en-US" sz="175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необходимости</a:t>
            </a:r>
            <a:endParaRPr lang="en-US" sz="1750" b="1" dirty="0">
              <a:latin typeface="Georgia" panose="02040502050405020303" pitchFamily="18" charset="0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5324593" y="3729087"/>
            <a:ext cx="3711903" cy="1650120"/>
          </a:xfrm>
          <a:prstGeom prst="roundRect">
            <a:avLst>
              <a:gd name="adj" fmla="val 15261"/>
            </a:avLst>
          </a:prstGeom>
          <a:solidFill>
            <a:srgbClr val="9F00FF"/>
          </a:solidFill>
          <a:ln w="7620">
            <a:solidFill>
              <a:srgbClr val="CC914D"/>
            </a:solidFill>
            <a:prstDash val="solid"/>
          </a:ln>
        </p:spPr>
      </p:sp>
      <p:sp>
        <p:nvSpPr>
          <p:cNvPr id="50" name="Text 15"/>
          <p:cNvSpPr/>
          <p:nvPr/>
        </p:nvSpPr>
        <p:spPr>
          <a:xfrm>
            <a:off x="5648807" y="4116879"/>
            <a:ext cx="2209520" cy="30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Интеграция</a:t>
            </a:r>
            <a:endParaRPr lang="en-US" sz="2200" b="1" dirty="0">
              <a:latin typeface="Georgia" panose="02040502050405020303" pitchFamily="18" charset="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5632083" y="4567014"/>
            <a:ext cx="4628459" cy="311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лёгкая интеграция в R&amp;D </a:t>
            </a:r>
            <a:endParaRPr lang="en-US" sz="1750" b="1" dirty="0" smtClean="0">
              <a:solidFill>
                <a:srgbClr val="FFFFFF"/>
              </a:solidFill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pipeline </a:t>
            </a: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заказчика</a:t>
            </a:r>
            <a:endParaRPr lang="en-US" sz="175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01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427766"/>
            <a:ext cx="3794538" cy="369328"/>
            <a:chOff x="0" y="616563"/>
            <a:chExt cx="2624903" cy="24895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16563"/>
              <a:ext cx="1294463" cy="248953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16563"/>
              <a:ext cx="1294463" cy="248953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16563"/>
              <a:ext cx="1294463" cy="248953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16563"/>
              <a:ext cx="1294463" cy="248953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16563"/>
              <a:ext cx="1294463" cy="248953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544" y="5379206"/>
            <a:ext cx="1633955" cy="1287538"/>
          </a:xfrm>
          <a:prstGeom prst="rect">
            <a:avLst/>
          </a:prstGeom>
        </p:spPr>
      </p:pic>
      <p:sp>
        <p:nvSpPr>
          <p:cNvPr id="13" name="Объект 4"/>
          <p:cNvSpPr txBox="1">
            <a:spLocks/>
          </p:cNvSpPr>
          <p:nvPr/>
        </p:nvSpPr>
        <p:spPr>
          <a:xfrm>
            <a:off x="1920975" y="903671"/>
            <a:ext cx="4722986" cy="1048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Имеющийся задел / </a:t>
            </a:r>
            <a:r>
              <a:rPr lang="en-US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IP / </a:t>
            </a:r>
            <a:r>
              <a:rPr lang="ru-RU" sz="47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опыт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 smtClean="0">
              <a:latin typeface="Georgia" panose="02040502050405020303" pitchFamily="18" charset="0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3356976" y="4863187"/>
            <a:ext cx="188615" cy="20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51" name="Text 16"/>
          <p:cNvSpPr/>
          <p:nvPr/>
        </p:nvSpPr>
        <p:spPr>
          <a:xfrm>
            <a:off x="5632083" y="4567014"/>
            <a:ext cx="4628459" cy="311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лёгкая интеграция в R&amp;D </a:t>
            </a:r>
            <a:endParaRPr lang="en-US" sz="1750" b="1" dirty="0" smtClean="0">
              <a:solidFill>
                <a:srgbClr val="FFFFFF"/>
              </a:solidFill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pipeline </a:t>
            </a:r>
            <a:r>
              <a:rPr lang="en-US" sz="1750" b="1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заказчика</a:t>
            </a:r>
            <a:endParaRPr lang="en-US" sz="1750" b="1" dirty="0">
              <a:latin typeface="Georgia" panose="02040502050405020303" pitchFamily="18" charset="0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56276" y="1742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Что уже сделано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27" name="Text 2"/>
          <p:cNvSpPr/>
          <p:nvPr/>
        </p:nvSpPr>
        <p:spPr>
          <a:xfrm>
            <a:off x="256276" y="2323193"/>
            <a:ext cx="828413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архитектура генератора</a:t>
            </a:r>
            <a:endParaRPr lang="en-US" sz="175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прототип маски трещин</a:t>
            </a:r>
            <a:endParaRPr lang="en-US" sz="175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базовая 3D-модель (указать)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1" name="Text 3"/>
          <p:cNvSpPr/>
          <p:nvPr/>
        </p:nvSpPr>
        <p:spPr>
          <a:xfrm>
            <a:off x="250968" y="3613677"/>
            <a:ext cx="4155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Научные/технические отчёты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38" name="Text 4"/>
          <p:cNvSpPr/>
          <p:nvPr/>
        </p:nvSpPr>
        <p:spPr>
          <a:xfrm>
            <a:off x="264898" y="4018130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публикации или прототипы (кратко)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9" name="Text 5"/>
          <p:cNvSpPr/>
          <p:nvPr/>
        </p:nvSpPr>
        <p:spPr>
          <a:xfrm>
            <a:off x="250968" y="46319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Состояние ИС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40" name="Text 6"/>
          <p:cNvSpPr/>
          <p:nvPr/>
        </p:nvSpPr>
        <p:spPr>
          <a:xfrm>
            <a:off x="245660" y="4972960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(патенты/заявки/отсутствуют — указать факты)</a:t>
            </a:r>
            <a:endParaRPr lang="en-US" sz="17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44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80726" y="967346"/>
            <a:ext cx="8219256" cy="526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Аналоги и конкуренты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83090" y="2901697"/>
            <a:ext cx="21161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Существующие решения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83090" y="3392115"/>
            <a:ext cx="36713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системы лазерной/вибрационной диагностики, коммерческие комплексы контроля колёс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086847" y="2901697"/>
            <a:ext cx="2190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Отличие нашего продукта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086846" y="3392115"/>
            <a:ext cx="36713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генерация размеченных данных + интеграция ML-pipeline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268782" y="4836393"/>
            <a:ext cx="411635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8AF3B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Ключевые конкурентные преимущества</a:t>
            </a:r>
            <a:endParaRPr lang="en-US" sz="2650" dirty="0">
              <a:latin typeface="Georgia" panose="02040502050405020303" pitchFamily="18" charset="0"/>
            </a:endParaRPr>
          </a:p>
        </p:txBody>
      </p:sp>
      <p:sp>
        <p:nvSpPr>
          <p:cNvPr id="21" name="Text 6"/>
          <p:cNvSpPr/>
          <p:nvPr/>
        </p:nvSpPr>
        <p:spPr>
          <a:xfrm>
            <a:off x="268782" y="5261684"/>
            <a:ext cx="78916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(список кратко)</a:t>
            </a:r>
            <a:endParaRPr lang="en-US" sz="1750" dirty="0">
              <a:latin typeface="Georgia" panose="02040502050405020303" pitchFamily="18" charset="0"/>
            </a:endParaRPr>
          </a:p>
        </p:txBody>
      </p:sp>
      <p:sp>
        <p:nvSpPr>
          <p:cNvPr id="3" name="Пятиугольник 2"/>
          <p:cNvSpPr/>
          <p:nvPr/>
        </p:nvSpPr>
        <p:spPr>
          <a:xfrm>
            <a:off x="371134" y="1739051"/>
            <a:ext cx="4014002" cy="917246"/>
          </a:xfrm>
          <a:prstGeom prst="homePlate">
            <a:avLst/>
          </a:prstGeom>
          <a:solidFill>
            <a:srgbClr val="FBB3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ятиугольник 22"/>
          <p:cNvSpPr/>
          <p:nvPr/>
        </p:nvSpPr>
        <p:spPr>
          <a:xfrm>
            <a:off x="4915526" y="1702657"/>
            <a:ext cx="4014002" cy="917246"/>
          </a:xfrm>
          <a:prstGeom prst="homePlate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76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Объект 4"/>
          <p:cNvSpPr txBox="1">
            <a:spLocks/>
          </p:cNvSpPr>
          <p:nvPr/>
        </p:nvSpPr>
        <p:spPr>
          <a:xfrm>
            <a:off x="480726" y="967346"/>
            <a:ext cx="8219256" cy="5263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</a:t>
            </a:r>
            <a:r>
              <a:rPr lang="ru-RU" b="1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потребитель</a:t>
            </a:r>
            <a:endParaRPr lang="ru-RU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 smtClean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273187" y="1558689"/>
            <a:ext cx="3450618" cy="1388575"/>
          </a:xfrm>
          <a:prstGeom prst="roundRect">
            <a:avLst>
              <a:gd name="adj" fmla="val 16884"/>
            </a:avLst>
          </a:prstGeom>
          <a:noFill/>
          <a:ln w="22860">
            <a:solidFill>
              <a:srgbClr val="B5D8E1"/>
            </a:solidFill>
            <a:prstDash val="solid"/>
          </a:ln>
        </p:spPr>
      </p:sp>
      <p:sp>
        <p:nvSpPr>
          <p:cNvPr id="16" name="Text 2"/>
          <p:cNvSpPr/>
          <p:nvPr/>
        </p:nvSpPr>
        <p:spPr>
          <a:xfrm>
            <a:off x="491376" y="16725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Целевые сегменты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91376" y="1986463"/>
            <a:ext cx="3232428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ЖД-операторы, депо, производители диагностики, научные организации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4210395" y="1532030"/>
            <a:ext cx="3169918" cy="1390210"/>
          </a:xfrm>
          <a:prstGeom prst="roundRect">
            <a:avLst>
              <a:gd name="adj" fmla="val 16884"/>
            </a:avLst>
          </a:prstGeom>
          <a:noFill/>
          <a:ln w="22860">
            <a:solidFill>
              <a:srgbClr val="B5D8E1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4437327" y="170847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Оценка спроса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4437327" y="2048193"/>
            <a:ext cx="323254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(примерные числа/кол-во предприятий — вставить вашу оценку)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308485" y="3069911"/>
            <a:ext cx="7488605" cy="737074"/>
          </a:xfrm>
          <a:prstGeom prst="roundRect">
            <a:avLst>
              <a:gd name="adj" fmla="val 25665"/>
            </a:avLst>
          </a:prstGeom>
          <a:noFill/>
          <a:ln w="22860">
            <a:solidFill>
              <a:srgbClr val="B5D8E1"/>
            </a:solidFill>
            <a:prstDash val="solid"/>
          </a:ln>
        </p:spPr>
      </p:sp>
      <p:sp>
        <p:nvSpPr>
          <p:cNvPr id="22" name="Text 8"/>
          <p:cNvSpPr/>
          <p:nvPr/>
        </p:nvSpPr>
        <p:spPr>
          <a:xfrm>
            <a:off x="556954" y="3165942"/>
            <a:ext cx="29870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Модель проникновения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579302" y="3484791"/>
            <a:ext cx="710255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пилоты с депо → лицензирование/сервис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300745" y="3932516"/>
            <a:ext cx="6645354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Возможные барьеры и пути их преодоления</a:t>
            </a:r>
            <a:endParaRPr lang="en-US" sz="24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381958" y="453830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Барьеры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381958" y="5040868"/>
            <a:ext cx="35292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консерватизм отрасли, валидация на реальном наборе данных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4639879" y="451397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Меры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4639879" y="5016542"/>
            <a:ext cx="35292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пилотные проекты, сотрудничество с депо/НИИ, дообучение на небольшом real set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4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  <p:sp>
        <p:nvSpPr>
          <p:cNvPr id="38" name="Text 0"/>
          <p:cNvSpPr/>
          <p:nvPr/>
        </p:nvSpPr>
        <p:spPr>
          <a:xfrm>
            <a:off x="107590" y="773410"/>
            <a:ext cx="8014335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Ключевая техническая задача и метрики успеха</a:t>
            </a:r>
            <a:endParaRPr lang="en-US" sz="2650" dirty="0">
              <a:latin typeface="Georgia" panose="02040502050405020303" pitchFamily="18" charset="0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68984" y="1223249"/>
            <a:ext cx="4935064" cy="677557"/>
          </a:xfrm>
          <a:prstGeom prst="roundRect">
            <a:avLst>
              <a:gd name="adj" fmla="val 28230"/>
            </a:avLst>
          </a:prstGeom>
          <a:solidFill>
            <a:srgbClr val="9F00FF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40" name="Text 2"/>
          <p:cNvSpPr/>
          <p:nvPr/>
        </p:nvSpPr>
        <p:spPr>
          <a:xfrm>
            <a:off x="218446" y="1261461"/>
            <a:ext cx="1704023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ТЗ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41" name="Text 3"/>
          <p:cNvSpPr/>
          <p:nvPr/>
        </p:nvSpPr>
        <p:spPr>
          <a:xfrm>
            <a:off x="159272" y="1509944"/>
            <a:ext cx="6252329" cy="17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генерация реалистичных изображений с </a:t>
            </a:r>
            <a:r>
              <a:rPr lang="en-US" sz="1050" dirty="0" err="1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контролируемыми</a:t>
            </a: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параметрами</a:t>
            </a:r>
            <a:endParaRPr lang="en-US" sz="1050" dirty="0" smtClean="0">
              <a:solidFill>
                <a:srgbClr val="FFFFFF"/>
              </a:solidFill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дефектов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5094336" y="1229330"/>
            <a:ext cx="3919931" cy="671476"/>
          </a:xfrm>
          <a:prstGeom prst="roundRect">
            <a:avLst>
              <a:gd name="adj" fmla="val 28230"/>
            </a:avLst>
          </a:prstGeom>
          <a:solidFill>
            <a:srgbClr val="9F00FF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43" name="Text 5"/>
          <p:cNvSpPr/>
          <p:nvPr/>
        </p:nvSpPr>
        <p:spPr>
          <a:xfrm>
            <a:off x="5255587" y="1308632"/>
            <a:ext cx="1704023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Метрики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5220072" y="1534310"/>
            <a:ext cx="6252329" cy="17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FID/LPIPS для синтетики, </a:t>
            </a:r>
            <a:r>
              <a:rPr lang="en-US" sz="1050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precision/recall/</a:t>
            </a:r>
            <a:r>
              <a:rPr lang="en-US" sz="1050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IoU</a:t>
            </a: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 err="1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на</a:t>
            </a:r>
            <a:r>
              <a:rPr lang="en-US" sz="1050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ре-тесте</a:t>
            </a:r>
            <a:r>
              <a:rPr lang="en-US" sz="1050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,</a:t>
            </a:r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 smtClean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% уменьшения ручной разметки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45" name="Text 7"/>
          <p:cNvSpPr/>
          <p:nvPr/>
        </p:nvSpPr>
        <p:spPr>
          <a:xfrm>
            <a:off x="115577" y="1992960"/>
            <a:ext cx="2044898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26C3B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Ресурсы проекта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46" name="Text 8"/>
          <p:cNvSpPr/>
          <p:nvPr/>
        </p:nvSpPr>
        <p:spPr>
          <a:xfrm>
            <a:off x="98981" y="2366904"/>
            <a:ext cx="1704023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Людские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98981" y="2661702"/>
            <a:ext cx="2960851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СЕО/рук. проекта, 2 dev (backend + tools), 1 ML-engineer, 1 3D-artist, консультант ЖД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3076185" y="2396581"/>
            <a:ext cx="1704023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Оборудование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3076185" y="2691379"/>
            <a:ext cx="4120753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GPU сервер(ы), рабочие станции для 3D, лицензии (Unity/Blender — указать)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6528300" y="2386340"/>
            <a:ext cx="1704023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Источники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6528300" y="2681138"/>
            <a:ext cx="4255770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собственные средства + грант </a:t>
            </a:r>
            <a:r>
              <a:rPr lang="en-US" sz="1050" dirty="0" err="1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Фонда</a:t>
            </a: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+</a:t>
            </a:r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возможные партнеры (депо/НИИ)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54485" y="3122384"/>
            <a:ext cx="3928824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Затраты (структура бюджета по гранту)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68984" y="3470165"/>
            <a:ext cx="13162359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Фонд заработной платы (X %): разработчики, ML-инженер, 3D-специалист</a:t>
            </a:r>
            <a:endParaRPr lang="en-US" sz="105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Оборудование (GPU) — одна-две позиции</a:t>
            </a:r>
            <a:endParaRPr lang="en-US" sz="105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ПО/лицензии и облачные расходы (рендер/тренинг)</a:t>
            </a:r>
            <a:endParaRPr lang="en-US" sz="105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Валидация/пилот (логистика, поездки)</a:t>
            </a:r>
            <a:endParaRPr lang="en-US" sz="105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Резерв (непредвиденные)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68984" y="4549348"/>
            <a:ext cx="13162359" cy="17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(указать ориентировочные суммы в рублях в каждой строке — по шаблону заявки)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561" y="5492022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  <p:sp>
        <p:nvSpPr>
          <p:cNvPr id="38" name="Text 0"/>
          <p:cNvSpPr/>
          <p:nvPr/>
        </p:nvSpPr>
        <p:spPr>
          <a:xfrm>
            <a:off x="107590" y="773410"/>
            <a:ext cx="8014335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Ключевая техническая задача и метрики успеха</a:t>
            </a:r>
            <a:endParaRPr lang="en-US" sz="2650" dirty="0">
              <a:latin typeface="Georgia" panose="02040502050405020303" pitchFamily="18" charset="0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107590" y="1546436"/>
            <a:ext cx="3559612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Планы по формированию команды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107590" y="2103599"/>
            <a:ext cx="9217023" cy="80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Краткие роли и требования (руководитель — </a:t>
            </a:r>
            <a:r>
              <a:rPr lang="en-US" sz="2000" dirty="0" err="1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архитектор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2000" dirty="0" smtClean="0"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endParaRPr lang="en-US" sz="2000" dirty="0"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200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ПО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; dev — C#/Python; ML; 3D-artist)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107590" y="2909267"/>
            <a:ext cx="9217023" cy="80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Условия привлечения: трудовой </a:t>
            </a:r>
            <a:r>
              <a:rPr lang="en-US" sz="2000" dirty="0" err="1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договор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00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/</a:t>
            </a:r>
          </a:p>
          <a:p>
            <a:pPr marL="0" indent="0" algn="l">
              <a:lnSpc>
                <a:spcPts val="1350"/>
              </a:lnSpc>
              <a:buNone/>
            </a:pPr>
            <a:endParaRPr lang="en-US" sz="2000" dirty="0"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200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ГПХ 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/ стажировки (укажите % занятости)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107590" y="3662704"/>
            <a:ext cx="9217023" cy="80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План найма в мес.: M1-M3 нанять 2 человека и т.д.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115528" y="3989883"/>
            <a:ext cx="2802709" cy="118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latin typeface="Georgia" panose="02040502050405020303" pitchFamily="18" charset="0"/>
                <a:ea typeface="Brygada 1918 Semi Bold" pitchFamily="34" charset="-122"/>
                <a:cs typeface="Brygada 1918 Semi Bold" pitchFamily="34" charset="-120"/>
              </a:rPr>
              <a:t>Планируемый способ получения дохода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-202756" y="4422057"/>
            <a:ext cx="11471500" cy="269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Прямые продажи лицензий предприятиям (on-</a:t>
            </a:r>
            <a:r>
              <a:rPr lang="en-US" sz="2000" dirty="0" err="1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prem</a:t>
            </a:r>
            <a:r>
              <a:rPr lang="en-US" sz="200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)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200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SaaS / подписка для разработчиков </a:t>
            </a:r>
            <a:r>
              <a:rPr lang="en-US" sz="2000" dirty="0" err="1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систем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000" dirty="0" err="1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диагностики</a:t>
            </a:r>
            <a:endParaRPr lang="en-US" sz="2000" dirty="0" smtClean="0"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2000" dirty="0">
              <a:latin typeface="Georgia" panose="02040502050405020303" pitchFamily="18" charset="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Платные услуги: кастомизация, </a:t>
            </a:r>
            <a:r>
              <a:rPr lang="en-US" sz="2000" dirty="0" err="1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генерация</a:t>
            </a:r>
            <a:endParaRPr lang="en-US" sz="2000" dirty="0" smtClean="0"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2000" dirty="0">
              <a:latin typeface="Georgia" panose="02040502050405020303" pitchFamily="18" charset="0"/>
              <a:ea typeface="Brygada 1918" pitchFamily="34" charset="-122"/>
              <a:cs typeface="Brygada 1918" pitchFamily="34" charset="-120"/>
            </a:endParaRP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2000" dirty="0" err="1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специализированных</a:t>
            </a:r>
            <a:r>
              <a:rPr lang="en-US" sz="2000" dirty="0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датасетов, интеграция и </a:t>
            </a:r>
            <a:r>
              <a:rPr lang="en-US" sz="2000" dirty="0" err="1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обучение</a:t>
            </a:r>
            <a:r>
              <a:rPr lang="en-US" sz="2000" dirty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000" dirty="0" err="1" smtClean="0">
                <a:latin typeface="Georgia" panose="02040502050405020303" pitchFamily="18" charset="0"/>
                <a:ea typeface="Brygada 1918" pitchFamily="34" charset="-122"/>
                <a:cs typeface="Brygada 1918" pitchFamily="34" charset="-120"/>
              </a:rPr>
              <a:t>моделей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5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  <p:sp>
        <p:nvSpPr>
          <p:cNvPr id="13" name="Shape 1"/>
          <p:cNvSpPr/>
          <p:nvPr/>
        </p:nvSpPr>
        <p:spPr>
          <a:xfrm>
            <a:off x="144906" y="1925037"/>
            <a:ext cx="8887724" cy="45719"/>
          </a:xfrm>
          <a:prstGeom prst="roundRect">
            <a:avLst>
              <a:gd name="adj" fmla="val 1271094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2"/>
          <p:cNvSpPr/>
          <p:nvPr/>
        </p:nvSpPr>
        <p:spPr>
          <a:xfrm>
            <a:off x="1372936" y="1537818"/>
            <a:ext cx="15240" cy="387310"/>
          </a:xfrm>
          <a:prstGeom prst="roundRect">
            <a:avLst>
              <a:gd name="adj" fmla="val 1271094"/>
            </a:avLst>
          </a:prstGeom>
          <a:solidFill>
            <a:srgbClr val="7B8554"/>
          </a:solidFill>
          <a:ln/>
        </p:spPr>
      </p:sp>
      <p:sp>
        <p:nvSpPr>
          <p:cNvPr id="15" name="Shape 3"/>
          <p:cNvSpPr/>
          <p:nvPr/>
        </p:nvSpPr>
        <p:spPr>
          <a:xfrm>
            <a:off x="1235299" y="1779872"/>
            <a:ext cx="290513" cy="290513"/>
          </a:xfrm>
          <a:prstGeom prst="roundRect">
            <a:avLst>
              <a:gd name="adj" fmla="val 66680"/>
            </a:avLst>
          </a:prstGeom>
          <a:solidFill>
            <a:srgbClr val="FBB3C1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16" name="Text 4"/>
          <p:cNvSpPr/>
          <p:nvPr/>
        </p:nvSpPr>
        <p:spPr>
          <a:xfrm>
            <a:off x="1297404" y="1855430"/>
            <a:ext cx="193596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573431" y="1000608"/>
            <a:ext cx="161424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M1–M3</a:t>
            </a:r>
            <a:endParaRPr lang="en-US" sz="1250" dirty="0"/>
          </a:p>
        </p:txBody>
      </p:sp>
      <p:sp>
        <p:nvSpPr>
          <p:cNvPr id="18" name="Text 6"/>
          <p:cNvSpPr/>
          <p:nvPr/>
        </p:nvSpPr>
        <p:spPr>
          <a:xfrm>
            <a:off x="284167" y="1246473"/>
            <a:ext cx="2955550" cy="138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архитектура, 3D-модели, прототип генератора дефектов</a:t>
            </a:r>
            <a:endParaRPr lang="en-US" sz="1000" dirty="0"/>
          </a:p>
        </p:txBody>
      </p:sp>
      <p:sp>
        <p:nvSpPr>
          <p:cNvPr id="19" name="Shape 7"/>
          <p:cNvSpPr/>
          <p:nvPr/>
        </p:nvSpPr>
        <p:spPr>
          <a:xfrm>
            <a:off x="4039221" y="1925128"/>
            <a:ext cx="15240" cy="387310"/>
          </a:xfrm>
          <a:prstGeom prst="roundRect">
            <a:avLst>
              <a:gd name="adj" fmla="val 1271094"/>
            </a:avLst>
          </a:prstGeom>
          <a:solidFill>
            <a:srgbClr val="9C9247"/>
          </a:solidFill>
          <a:ln/>
        </p:spPr>
      </p:sp>
      <p:sp>
        <p:nvSpPr>
          <p:cNvPr id="20" name="Shape 8"/>
          <p:cNvSpPr/>
          <p:nvPr/>
        </p:nvSpPr>
        <p:spPr>
          <a:xfrm>
            <a:off x="3901585" y="1779872"/>
            <a:ext cx="290513" cy="290513"/>
          </a:xfrm>
          <a:prstGeom prst="roundRect">
            <a:avLst>
              <a:gd name="adj" fmla="val 66680"/>
            </a:avLst>
          </a:prstGeom>
          <a:solidFill>
            <a:srgbClr val="9F00FF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3965284" y="1842498"/>
            <a:ext cx="193596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3239716" y="2441621"/>
            <a:ext cx="161424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M4–M6</a:t>
            </a:r>
            <a:endParaRPr lang="en-US" sz="1250" dirty="0"/>
          </a:p>
        </p:txBody>
      </p:sp>
      <p:sp>
        <p:nvSpPr>
          <p:cNvPr id="23" name="Text 11"/>
          <p:cNvSpPr/>
          <p:nvPr/>
        </p:nvSpPr>
        <p:spPr>
          <a:xfrm>
            <a:off x="1555577" y="2687486"/>
            <a:ext cx="4982647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модуль рендера, pipeline </a:t>
            </a: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аннотаций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первичный датасет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6705507" y="1537818"/>
            <a:ext cx="15240" cy="387310"/>
          </a:xfrm>
          <a:prstGeom prst="roundRect">
            <a:avLst>
              <a:gd name="adj" fmla="val 1271094"/>
            </a:avLst>
          </a:prstGeom>
          <a:solidFill>
            <a:srgbClr val="CE9521"/>
          </a:solidFill>
          <a:ln/>
        </p:spPr>
      </p:sp>
      <p:sp>
        <p:nvSpPr>
          <p:cNvPr id="25" name="Shape 13"/>
          <p:cNvSpPr/>
          <p:nvPr/>
        </p:nvSpPr>
        <p:spPr>
          <a:xfrm>
            <a:off x="6567871" y="1779872"/>
            <a:ext cx="290513" cy="290513"/>
          </a:xfrm>
          <a:prstGeom prst="roundRect">
            <a:avLst>
              <a:gd name="adj" fmla="val 66680"/>
            </a:avLst>
          </a:prstGeom>
          <a:solidFill>
            <a:srgbClr val="FD493D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26" name="Text 14"/>
          <p:cNvSpPr/>
          <p:nvPr/>
        </p:nvSpPr>
        <p:spPr>
          <a:xfrm>
            <a:off x="6623949" y="1868587"/>
            <a:ext cx="193596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15"/>
          <p:cNvSpPr/>
          <p:nvPr/>
        </p:nvSpPr>
        <p:spPr>
          <a:xfrm>
            <a:off x="5906002" y="1000608"/>
            <a:ext cx="161424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M7–M9</a:t>
            </a:r>
            <a:endParaRPr lang="en-US" sz="1250" dirty="0"/>
          </a:p>
        </p:txBody>
      </p:sp>
      <p:sp>
        <p:nvSpPr>
          <p:cNvPr id="28" name="Text 16"/>
          <p:cNvSpPr/>
          <p:nvPr/>
        </p:nvSpPr>
        <p:spPr>
          <a:xfrm>
            <a:off x="4221863" y="1246472"/>
            <a:ext cx="4982647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обучение/валидация ML-моделей, пилот с партнёром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8639819" y="1952720"/>
            <a:ext cx="15240" cy="387310"/>
          </a:xfrm>
          <a:prstGeom prst="roundRect">
            <a:avLst>
              <a:gd name="adj" fmla="val 1271094"/>
            </a:avLst>
          </a:prstGeom>
          <a:solidFill>
            <a:srgbClr val="B27733"/>
          </a:solidFill>
          <a:ln/>
        </p:spPr>
      </p:sp>
      <p:sp>
        <p:nvSpPr>
          <p:cNvPr id="30" name="Shape 18"/>
          <p:cNvSpPr/>
          <p:nvPr/>
        </p:nvSpPr>
        <p:spPr>
          <a:xfrm>
            <a:off x="8439516" y="1764335"/>
            <a:ext cx="290513" cy="290513"/>
          </a:xfrm>
          <a:prstGeom prst="roundRect">
            <a:avLst>
              <a:gd name="adj" fmla="val 66680"/>
            </a:avLst>
          </a:prstGeom>
          <a:solidFill>
            <a:srgbClr val="ADDAE3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8487974" y="1842498"/>
            <a:ext cx="193596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0"/>
          <p:cNvSpPr/>
          <p:nvPr/>
        </p:nvSpPr>
        <p:spPr>
          <a:xfrm>
            <a:off x="7840315" y="2469213"/>
            <a:ext cx="161424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M10–M12</a:t>
            </a:r>
            <a:endParaRPr lang="en-US" sz="1250" dirty="0"/>
          </a:p>
        </p:txBody>
      </p:sp>
      <p:sp>
        <p:nvSpPr>
          <p:cNvPr id="33" name="Text 21"/>
          <p:cNvSpPr/>
          <p:nvPr/>
        </p:nvSpPr>
        <p:spPr>
          <a:xfrm>
            <a:off x="6156176" y="2715078"/>
            <a:ext cx="2858091" cy="45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оптимизация, </a:t>
            </a:r>
            <a:r>
              <a:rPr lang="en-US" sz="10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подготовка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00" dirty="0" err="1" smtClean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коммерческого</a:t>
            </a:r>
            <a:endParaRPr lang="en-US" sz="1000" dirty="0" smtClean="0"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ctr">
              <a:lnSpc>
                <a:spcPts val="1250"/>
              </a:lnSpc>
              <a:buNone/>
            </a:pPr>
            <a:r>
              <a:rPr lang="en-US" sz="1000" dirty="0" err="1" smtClean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релиза</a:t>
            </a:r>
            <a:r>
              <a:rPr lang="en-US" sz="1000" dirty="0" smtClean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000" dirty="0" err="1" smtClean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маркет</a:t>
            </a:r>
            <a:r>
              <a:rPr lang="en-US" sz="1000" dirty="0" smtClean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/</a:t>
            </a:r>
            <a:r>
              <a:rPr lang="en-US" sz="1000" dirty="0" err="1" smtClean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поиск</a:t>
            </a:r>
            <a:r>
              <a:rPr lang="en-US" sz="1000" dirty="0" smtClean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клиентов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144906" y="3305527"/>
            <a:ext cx="3868936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Команда проекта — опыт и компетенции</a:t>
            </a:r>
            <a:endParaRPr lang="en-US" sz="1500" dirty="0"/>
          </a:p>
        </p:txBody>
      </p:sp>
      <p:sp>
        <p:nvSpPr>
          <p:cNvPr id="37" name="Text 23"/>
          <p:cNvSpPr/>
          <p:nvPr/>
        </p:nvSpPr>
        <p:spPr>
          <a:xfrm>
            <a:off x="144906" y="3657832"/>
            <a:ext cx="13239750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Короткие блоки про каждого ключевого участника: образование, релевантный опыт, проекты/публикации (заполнить FIO и пункты)</a:t>
            </a:r>
            <a:endParaRPr lang="en-US" sz="1000" dirty="0"/>
          </a:p>
        </p:txBody>
      </p:sp>
      <p:sp>
        <p:nvSpPr>
          <p:cNvPr id="38" name="Text 24"/>
          <p:cNvSpPr/>
          <p:nvPr/>
        </p:nvSpPr>
        <p:spPr>
          <a:xfrm>
            <a:off x="144906" y="3902625"/>
            <a:ext cx="13239750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Дополнительные ресурсы: участие в акселераторах, курсы, лаборатории</a:t>
            </a:r>
            <a:endParaRPr lang="en-US" sz="1000" dirty="0"/>
          </a:p>
        </p:txBody>
      </p:sp>
      <p:sp>
        <p:nvSpPr>
          <p:cNvPr id="39" name="Text 25"/>
          <p:cNvSpPr/>
          <p:nvPr/>
        </p:nvSpPr>
        <p:spPr>
          <a:xfrm>
            <a:off x="144906" y="4175040"/>
            <a:ext cx="2430423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Квалификация заявителя</a:t>
            </a:r>
            <a:endParaRPr lang="en-US" sz="1500" dirty="0"/>
          </a:p>
        </p:txBody>
      </p:sp>
      <p:sp>
        <p:nvSpPr>
          <p:cNvPr id="40" name="Text 26"/>
          <p:cNvSpPr/>
          <p:nvPr/>
        </p:nvSpPr>
        <p:spPr>
          <a:xfrm>
            <a:off x="144906" y="4527346"/>
            <a:ext cx="13239750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Образование, ключевые навыки, релевантный опыт (разработка ПО/ML/3D)</a:t>
            </a:r>
            <a:endParaRPr lang="en-US" sz="1000" dirty="0"/>
          </a:p>
        </p:txBody>
      </p:sp>
      <p:sp>
        <p:nvSpPr>
          <p:cNvPr id="41" name="Text 27"/>
          <p:cNvSpPr/>
          <p:nvPr/>
        </p:nvSpPr>
        <p:spPr>
          <a:xfrm>
            <a:off x="144906" y="4772138"/>
            <a:ext cx="13239750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Контакты, ссылки на портфолио / GitHub (если есть)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315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xmlns="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  <p:sp>
        <p:nvSpPr>
          <p:cNvPr id="42" name="Text 28"/>
          <p:cNvSpPr/>
          <p:nvPr/>
        </p:nvSpPr>
        <p:spPr>
          <a:xfrm>
            <a:off x="256276" y="1076509"/>
            <a:ext cx="2322195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8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Риски и меры снижения</a:t>
            </a:r>
            <a:endParaRPr lang="en-US" sz="2800" dirty="0"/>
          </a:p>
        </p:txBody>
      </p:sp>
      <p:sp>
        <p:nvSpPr>
          <p:cNvPr id="43" name="Text 29"/>
          <p:cNvSpPr/>
          <p:nvPr/>
        </p:nvSpPr>
        <p:spPr>
          <a:xfrm>
            <a:off x="-108520" y="1916832"/>
            <a:ext cx="8453716" cy="200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342900" algn="l">
              <a:lnSpc>
                <a:spcPts val="1250"/>
              </a:lnSpc>
              <a:spcBef>
                <a:spcPts val="1800"/>
              </a:spcBef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Технические: gap realism → </a:t>
            </a:r>
            <a:r>
              <a:rPr lang="en-US" sz="2800" dirty="0" err="1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использовать</a:t>
            </a: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2800" dirty="0" smtClean="0"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342900" algn="l">
              <a:lnSpc>
                <a:spcPts val="1250"/>
              </a:lnSpc>
              <a:spcBef>
                <a:spcPts val="1800"/>
              </a:spcBef>
              <a:spcAft>
                <a:spcPts val="1800"/>
              </a:spcAft>
              <a:buSzPct val="100000"/>
            </a:pPr>
            <a:r>
              <a:rPr lang="en-US" sz="2800" dirty="0" smtClean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domain </a:t>
            </a: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adaptation, style transfer</a:t>
            </a:r>
            <a:endParaRPr lang="en-US" sz="2800" dirty="0"/>
          </a:p>
          <a:p>
            <a:pPr marL="342900" indent="342900" algn="l">
              <a:lnSpc>
                <a:spcPts val="1250"/>
              </a:lnSpc>
              <a:spcBef>
                <a:spcPts val="1800"/>
              </a:spcBef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Коммерческие: медленное </a:t>
            </a:r>
            <a:r>
              <a:rPr lang="en-US" sz="2800" dirty="0" err="1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принятие</a:t>
            </a: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800" dirty="0" err="1" smtClean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рынком</a:t>
            </a:r>
            <a:endParaRPr lang="en-US" sz="2800" dirty="0" smtClean="0"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342900" algn="l">
              <a:lnSpc>
                <a:spcPts val="1250"/>
              </a:lnSpc>
              <a:spcBef>
                <a:spcPts val="1800"/>
              </a:spcBef>
              <a:spcAft>
                <a:spcPts val="1800"/>
              </a:spcAft>
              <a:buSzPct val="100000"/>
            </a:pPr>
            <a:r>
              <a:rPr lang="en-US" sz="2800" dirty="0" smtClean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→ пилоты, комб. коммерч. модели</a:t>
            </a:r>
            <a:endParaRPr lang="en-US" sz="2800" dirty="0"/>
          </a:p>
          <a:p>
            <a:pPr marL="342900" indent="342900" algn="l">
              <a:lnSpc>
                <a:spcPts val="1250"/>
              </a:lnSpc>
              <a:spcBef>
                <a:spcPts val="1800"/>
              </a:spcBef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Юридические: права на ИС → </a:t>
            </a:r>
            <a:r>
              <a:rPr lang="en-US" sz="2800" dirty="0" err="1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план</a:t>
            </a: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endParaRPr lang="en-US" sz="2800" dirty="0" smtClean="0"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342900" algn="l">
              <a:lnSpc>
                <a:spcPts val="1250"/>
              </a:lnSpc>
              <a:spcBef>
                <a:spcPts val="1800"/>
              </a:spcBef>
              <a:spcAft>
                <a:spcPts val="1800"/>
              </a:spcAft>
              <a:buSzPct val="100000"/>
            </a:pPr>
            <a:r>
              <a:rPr lang="en-US" sz="2800" dirty="0" err="1" smtClean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регистрации</a:t>
            </a:r>
            <a:r>
              <a:rPr lang="en-US" sz="2800" dirty="0" smtClean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28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(если применимо)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643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3022474" y="-25311"/>
            <a:ext cx="6121526" cy="1800326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7" name="Прямоугольник 9"/>
          <p:cNvSpPr/>
          <p:nvPr/>
        </p:nvSpPr>
        <p:spPr>
          <a:xfrm>
            <a:off x="5275122" y="-25311"/>
            <a:ext cx="3868878" cy="1811885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DDAE3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3022474" y="1726072"/>
            <a:ext cx="6121524" cy="5131928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5281544" y="1726072"/>
            <a:ext cx="3868878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" name="Прямоугольник 13"/>
          <p:cNvSpPr/>
          <p:nvPr/>
        </p:nvSpPr>
        <p:spPr>
          <a:xfrm>
            <a:off x="3022474" y="5340367"/>
            <a:ext cx="2258750" cy="151588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8104" y="1988840"/>
            <a:ext cx="36724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Почта</a:t>
            </a:r>
            <a:endParaRPr lang="ru-RU" sz="1600" b="1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Телефон</a:t>
            </a:r>
            <a:endParaRPr lang="ru-RU" sz="1600" b="1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7" t="34896" r="19769" b="32552"/>
          <a:stretch/>
        </p:blipFill>
        <p:spPr bwMode="auto">
          <a:xfrm>
            <a:off x="10692680" y="1556322"/>
            <a:ext cx="1965708" cy="2310257"/>
          </a:xfrm>
          <a:prstGeom prst="rect">
            <a:avLst/>
          </a:prstGeom>
          <a:solidFill>
            <a:srgbClr val="ADDAE3"/>
          </a:solidFill>
          <a:ln>
            <a:noFill/>
          </a:ln>
          <a:extLst/>
        </p:spPr>
      </p:pic>
      <p:sp>
        <p:nvSpPr>
          <p:cNvPr id="14" name="Прямоугольник 13"/>
          <p:cNvSpPr/>
          <p:nvPr/>
        </p:nvSpPr>
        <p:spPr>
          <a:xfrm>
            <a:off x="5868144" y="280564"/>
            <a:ext cx="2536400" cy="1040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Спасибо </a:t>
            </a:r>
            <a:endParaRPr lang="ru-RU" sz="2800" b="1" dirty="0" smtClean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 smtClean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 </a:t>
            </a: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внимание!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22" y="4794411"/>
            <a:ext cx="1857486" cy="1724605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2016224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1726072"/>
            <a:ext cx="3672408" cy="985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84628" y="1895596"/>
            <a:ext cx="1765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</a:t>
            </a:r>
            <a:r>
              <a:rPr lang="ru-RU" dirty="0" smtClean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заявки</a:t>
            </a:r>
            <a:endParaRPr lang="ru-RU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b="1" dirty="0" smtClean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ФИО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1559" y="2711450"/>
            <a:ext cx="3384375" cy="3021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46677" y="3866222"/>
            <a:ext cx="123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Фото 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9230</TotalTime>
  <Words>705</Words>
  <Application>Microsoft Office PowerPoint</Application>
  <PresentationFormat>Экран (4:3)</PresentationFormat>
  <Paragraphs>176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Brygada 1918</vt:lpstr>
      <vt:lpstr>Brygada 1918 Semi Bold</vt:lpstr>
      <vt:lpstr>Calibri</vt:lpstr>
      <vt:lpstr>Georgia</vt:lpstr>
      <vt:lpstr>Gilroy-ExtraBold</vt:lpstr>
      <vt:lpstr>Helvetica</vt:lpstr>
      <vt:lpstr>Helvetica Neue</vt:lpstr>
      <vt:lpstr>Tahoma</vt:lpstr>
      <vt:lpstr>Тема Office</vt:lpstr>
      <vt:lpstr>«Разработка ПО для синтеза данных для анализа повреждений колёсных пар методами машинного зрения»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Company>FASIE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Admin</cp:lastModifiedBy>
  <cp:revision>81</cp:revision>
  <dcterms:created xsi:type="dcterms:W3CDTF">2023-02-08T09:03:57Z</dcterms:created>
  <dcterms:modified xsi:type="dcterms:W3CDTF">2026-03-17T13:19:50Z</dcterms:modified>
</cp:coreProperties>
</file>